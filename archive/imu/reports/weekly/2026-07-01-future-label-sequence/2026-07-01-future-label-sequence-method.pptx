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033"/>
                </a:solidFill>
                <a:latin typeface="Microsoft YaHei"/>
              </a:rPr>
              <a:t>本周进展：从论文阅读到方法设想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949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26173"/>
                </a:solidFill>
                <a:latin typeface="Microsoft YaHei"/>
              </a:rPr>
              <a:t>Future Patch Label Sequence for Smartphone IMU Activity Forecasting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10972800" cy="96012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536192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42033"/>
                </a:solidFill>
                <a:latin typeface="Microsoft YaHei"/>
              </a:rPr>
              <a:t>问题转变：从单窗口 HAR 分类，转向连续 IMU 流上的当前识别 + 未来标签序列预测。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3566160" cy="3566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752344"/>
            <a:ext cx="3163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D8"/>
                </a:solidFill>
                <a:latin typeface="Microsoft YaHei"/>
              </a:rPr>
              <a:t>已有依据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172968"/>
            <a:ext cx="3108960" cy="29077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42033"/>
                </a:solidFill>
                <a:latin typeface="Microsoft YaHei"/>
              </a:defRPr>
            </a:pPr>
            <a:r>
              <a:t>P2LHAP：patch-to-label sequence</a:t>
            </a:r>
          </a:p>
          <a:p>
            <a:pPr>
              <a:spcAft>
                <a:spcPts val="700"/>
              </a:spcAft>
              <a:defRPr sz="1700">
                <a:solidFill>
                  <a:srgbClr val="142033"/>
                </a:solidFill>
                <a:latin typeface="Microsoft YaHei"/>
              </a:defRPr>
            </a:pPr>
            <a:r>
              <a:t>FUTR：parallel action queries</a:t>
            </a:r>
          </a:p>
          <a:p>
            <a:pPr>
              <a:spcAft>
                <a:spcPts val="700"/>
              </a:spcAft>
              <a:defRPr sz="1700">
                <a:solidFill>
                  <a:srgbClr val="142033"/>
                </a:solidFill>
                <a:latin typeface="Microsoft YaHei"/>
              </a:defRPr>
            </a:pPr>
            <a:r>
              <a:t>ActFusion：future mask completion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606040"/>
            <a:ext cx="3566160" cy="3566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2752344"/>
            <a:ext cx="3163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766E"/>
                </a:solidFill>
                <a:latin typeface="Microsoft YaHei"/>
              </a:rPr>
              <a:t>本方法选择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3172968"/>
            <a:ext cx="3108960" cy="29077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42033"/>
                </a:solidFill>
                <a:latin typeface="Microsoft YaHei"/>
              </a:defRPr>
            </a:pPr>
            <a:r>
              <a:t>不用大量 transition class</a:t>
            </a:r>
          </a:p>
          <a:p>
            <a:pPr>
              <a:spcAft>
                <a:spcPts val="700"/>
              </a:spcAft>
              <a:defRPr sz="1700">
                <a:solidFill>
                  <a:srgbClr val="142033"/>
                </a:solidFill>
                <a:latin typeface="Microsoft YaHei"/>
              </a:defRPr>
            </a:pPr>
            <a:r>
              <a:t>预测 p(y_t)...p(y_{t+H})</a:t>
            </a:r>
          </a:p>
          <a:p>
            <a:pPr>
              <a:spcAft>
                <a:spcPts val="700"/>
              </a:spcAft>
              <a:defRPr sz="1700">
                <a:solidFill>
                  <a:srgbClr val="142033"/>
                </a:solidFill>
                <a:latin typeface="Microsoft YaHei"/>
              </a:defRPr>
            </a:pPr>
            <a:r>
              <a:t>由 label 序列推导切换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606040"/>
            <a:ext cx="3291840" cy="3566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2752344"/>
            <a:ext cx="28895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B45309"/>
                </a:solidFill>
                <a:latin typeface="Microsoft YaHei"/>
              </a:rPr>
              <a:t>组会要点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2" y="3172968"/>
            <a:ext cx="2834640" cy="29077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42033"/>
                </a:solidFill>
                <a:latin typeface="Microsoft YaHei"/>
              </a:defRPr>
            </a:pPr>
            <a:r>
              <a:t>方法结构图</a:t>
            </a:r>
          </a:p>
          <a:p>
            <a:pPr>
              <a:spcAft>
                <a:spcPts val="700"/>
              </a:spcAft>
              <a:defRPr sz="1700">
                <a:solidFill>
                  <a:srgbClr val="142033"/>
                </a:solidFill>
                <a:latin typeface="Microsoft YaHei"/>
              </a:defRPr>
            </a:pPr>
            <a:r>
              <a:t>无标签预训练策略</a:t>
            </a:r>
          </a:p>
          <a:p>
            <a:pPr>
              <a:spcAft>
                <a:spcPts val="700"/>
              </a:spcAft>
              <a:defRPr sz="1700">
                <a:solidFill>
                  <a:srgbClr val="142033"/>
                </a:solidFill>
                <a:latin typeface="Microsoft YaHei"/>
              </a:defRPr>
            </a:pPr>
            <a:r>
              <a:t>下一步实验计划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033"/>
                </a:solidFill>
                <a:latin typeface="Microsoft YaHei"/>
              </a:rPr>
              <a:t>任务定义：Future Patch Label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949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26173"/>
                </a:solidFill>
                <a:latin typeface="Microsoft YaHei"/>
              </a:rPr>
              <a:t>输入过去 L 个 IMU patches，输出当前与未来 H 个 patch 的标签分布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4ED8"/>
                </a:solidFill>
                <a:latin typeface="Microsoft YaHei"/>
              </a:rPr>
              <a:t>核心公式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10972800" cy="91440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033"/>
                </a:solidFill>
                <a:latin typeface="Microsoft YaHei"/>
              </a:rPr>
              <a:t>past IMU patches  -&gt;  p(y_t), p(y_{t+1}), ..., p(y_{t+H})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017520"/>
            <a:ext cx="5212080" cy="3017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3163824"/>
            <a:ext cx="48097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BE123C"/>
                </a:solidFill>
                <a:latin typeface="Microsoft YaHei"/>
              </a:rPr>
              <a:t>为什么不主用 &lt;A-2-B&gt;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584448"/>
            <a:ext cx="4754880" cy="2359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42033"/>
                </a:solidFill>
                <a:latin typeface="Microsoft YaHei"/>
              </a:defRPr>
            </a:pPr>
            <a:r>
              <a:t>transition 类别数随动作组合增长</a:t>
            </a:r>
          </a:p>
          <a:p>
            <a:pPr>
              <a:spcAft>
                <a:spcPts val="700"/>
              </a:spcAft>
              <a:defRPr sz="1700">
                <a:solidFill>
                  <a:srgbClr val="142033"/>
                </a:solidFill>
                <a:latin typeface="Microsoft YaHei"/>
              </a:defRPr>
            </a:pPr>
            <a:r>
              <a:t>切换样本少，容易类别不平衡</a:t>
            </a:r>
          </a:p>
          <a:p>
            <a:pPr>
              <a:spcAft>
                <a:spcPts val="700"/>
              </a:spcAft>
              <a:defRPr sz="1700">
                <a:solidFill>
                  <a:srgbClr val="142033"/>
                </a:solidFill>
                <a:latin typeface="Microsoft YaHei"/>
              </a:defRPr>
            </a:pPr>
            <a:r>
              <a:t>序列预测能自然派生切换时机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017520"/>
            <a:ext cx="5440680" cy="3017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3163824"/>
            <a:ext cx="5038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5803D"/>
                </a:solidFill>
                <a:latin typeface="Microsoft YaHei"/>
              </a:rPr>
              <a:t>输出解释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3584448"/>
            <a:ext cx="4983480" cy="2359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42033"/>
                </a:solidFill>
                <a:latin typeface="Microsoft YaHei"/>
              </a:defRPr>
            </a:pPr>
            <a:r>
              <a:t>第一次 label 变化：time-to-switch</a:t>
            </a:r>
          </a:p>
          <a:p>
            <a:pPr>
              <a:spcAft>
                <a:spcPts val="700"/>
              </a:spcAft>
              <a:defRPr sz="1700">
                <a:solidFill>
                  <a:srgbClr val="142033"/>
                </a:solidFill>
                <a:latin typeface="Microsoft YaHei"/>
              </a:defRPr>
            </a:pPr>
            <a:r>
              <a:t>变化后的 label：next action</a:t>
            </a:r>
          </a:p>
          <a:p>
            <a:pPr>
              <a:spcAft>
                <a:spcPts val="700"/>
              </a:spcAft>
              <a:defRPr sz="1700">
                <a:solidFill>
                  <a:srgbClr val="142033"/>
                </a:solidFill>
                <a:latin typeface="Microsoft YaHei"/>
              </a:defRPr>
            </a:pPr>
            <a:r>
              <a:t>label confidence：continuation / switch probability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033"/>
                </a:solidFill>
                <a:latin typeface="Microsoft YaHei"/>
              </a:rPr>
              <a:t>模型结构：Parallel Query Transformer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949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26173"/>
                </a:solidFill>
                <a:latin typeface="Microsoft YaHei"/>
              </a:rPr>
              <a:t>Transformer Encoder + Parallel Query Decoder + Shared MLP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uture-label-sequence-transformer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11384280" cy="56921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6144768"/>
            <a:ext cx="11064240" cy="420624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6236208"/>
            <a:ext cx="10698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2033"/>
                </a:solidFill>
                <a:latin typeface="Microsoft YaHei"/>
              </a:rPr>
              <a:t>q0 表示当前查询，q1...qH 表示未来 horizon；decoder 并行输出 o0...oH 后逐 token 分类。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033"/>
                </a:solidFill>
                <a:latin typeface="Microsoft YaHei"/>
              </a:rPr>
              <a:t>训练策略：无标签预训练 + 有标签微调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949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26173"/>
                </a:solidFill>
                <a:latin typeface="Microsoft YaHei"/>
              </a:rPr>
              <a:t>大量无监督 IMU 数据用于学习 dynamics，少量标签用于 future label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uture-label-sequence-training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70432"/>
            <a:ext cx="11384280" cy="56921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6108192"/>
            <a:ext cx="11155680" cy="475488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6208776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3B00"/>
                </a:solidFill>
                <a:latin typeface="Microsoft YaHei"/>
              </a:rPr>
              <a:t>注意：label prediction 阶段采用 unmasked parallel query decoder；mask 只用于 Stage 1 的 masked reconstruction。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033"/>
                </a:solidFill>
                <a:latin typeface="Microsoft YaHei"/>
              </a:rPr>
              <a:t>由未来标签概率推导切换时机与下一动作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949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26173"/>
                </a:solidFill>
                <a:latin typeface="Microsoft YaHei"/>
              </a:rPr>
              <a:t>切换不是主标签，而是未来 label sequence 的结构性结果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uture-label-sequence-switch-in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70432"/>
            <a:ext cx="11201400" cy="56007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6108192"/>
            <a:ext cx="5440680" cy="438912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208776"/>
            <a:ext cx="5029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2033"/>
                </a:solidFill>
                <a:latin typeface="Microsoft YaHei"/>
              </a:rPr>
              <a:t>switch time = first changed patch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6108192"/>
            <a:ext cx="5212080" cy="438912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6208776"/>
            <a:ext cx="4754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2033"/>
                </a:solidFill>
                <a:latin typeface="Microsoft YaHei"/>
              </a:rPr>
              <a:t>next action = first changed label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0116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033"/>
                </a:solidFill>
                <a:latin typeface="Microsoft YaHei"/>
              </a:rPr>
              <a:t>下一步实验计划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94944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26173"/>
                </a:solidFill>
                <a:latin typeface="Microsoft YaHei"/>
              </a:rPr>
              <a:t>先验证输出形式，再扩展到人体动作 + 手机/相机运动双标签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56616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472184"/>
            <a:ext cx="3163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D8"/>
                </a:solidFill>
                <a:latin typeface="Microsoft YaHei"/>
              </a:rPr>
              <a:t>数据与任务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3108960" cy="3822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42033"/>
                </a:solidFill>
                <a:latin typeface="Microsoft YaHei"/>
              </a:defRPr>
            </a:pPr>
            <a:r>
              <a:t>UCI HAR：只做 encoder sanity check</a:t>
            </a:r>
          </a:p>
          <a:p>
            <a:pPr>
              <a:spcAft>
                <a:spcPts val="700"/>
              </a:spcAft>
              <a:defRPr sz="1700">
                <a:solidFill>
                  <a:srgbClr val="142033"/>
                </a:solidFill>
                <a:latin typeface="Microsoft YaHei"/>
              </a:defRPr>
            </a:pPr>
            <a:r>
              <a:t>寻找连续 HAR 数据：验证 future labels</a:t>
            </a:r>
          </a:p>
          <a:p>
            <a:pPr>
              <a:spcAft>
                <a:spcPts val="700"/>
              </a:spcAft>
              <a:defRPr sz="1700">
                <a:solidFill>
                  <a:srgbClr val="142033"/>
                </a:solidFill>
                <a:latin typeface="Microsoft YaHei"/>
              </a:defRPr>
            </a:pPr>
            <a:r>
              <a:t>后续自采：human action + phone motion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56616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1472184"/>
            <a:ext cx="3163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766E"/>
                </a:solidFill>
                <a:latin typeface="Microsoft YaHei"/>
              </a:rPr>
              <a:t>结构消融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1892807"/>
            <a:ext cx="3108960" cy="3822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42033"/>
                </a:solidFill>
                <a:latin typeface="Microsoft YaHei"/>
              </a:defRPr>
            </a:pPr>
            <a:r>
              <a:t>early fusion</a:t>
            </a:r>
          </a:p>
          <a:p>
            <a:pPr>
              <a:spcAft>
                <a:spcPts val="700"/>
              </a:spcAft>
              <a:defRPr sz="1700">
                <a:solidFill>
                  <a:srgbClr val="142033"/>
                </a:solidFill>
                <a:latin typeface="Microsoft YaHei"/>
              </a:defRPr>
            </a:pPr>
            <a:r>
              <a:t>P2LHAP-style channel independent</a:t>
            </a:r>
          </a:p>
          <a:p>
            <a:pPr>
              <a:spcAft>
                <a:spcPts val="700"/>
              </a:spcAft>
              <a:defRPr sz="1700">
                <a:solidFill>
                  <a:srgbClr val="142033"/>
                </a:solidFill>
                <a:latin typeface="Microsoft YaHei"/>
              </a:defRPr>
            </a:pPr>
            <a:r>
              <a:t>hybrid stem + cross-channel fusion</a:t>
            </a:r>
          </a:p>
          <a:p>
            <a:pPr>
              <a:spcAft>
                <a:spcPts val="700"/>
              </a:spcAft>
              <a:defRPr sz="1700">
                <a:solidFill>
                  <a:srgbClr val="142033"/>
                </a:solidFill>
                <a:latin typeface="Microsoft YaHei"/>
              </a:defRPr>
            </a:pPr>
            <a:r>
              <a:t>parallel decoder vs autoregressive decoder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325880"/>
            <a:ext cx="329184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1472184"/>
            <a:ext cx="28895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B45309"/>
                </a:solidFill>
                <a:latin typeface="Microsoft YaHei"/>
              </a:rPr>
              <a:t>评价指标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352" y="1892807"/>
            <a:ext cx="2834640" cy="3822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42033"/>
                </a:solidFill>
                <a:latin typeface="Microsoft YaHei"/>
              </a:defRPr>
            </a:pPr>
            <a:r>
              <a:t>future label accuracy / macro-F1</a:t>
            </a:r>
          </a:p>
          <a:p>
            <a:pPr>
              <a:spcAft>
                <a:spcPts val="700"/>
              </a:spcAft>
              <a:defRPr sz="1700">
                <a:solidFill>
                  <a:srgbClr val="142033"/>
                </a:solidFill>
                <a:latin typeface="Microsoft YaHei"/>
              </a:defRPr>
            </a:pPr>
            <a:r>
              <a:t>next-action accuracy</a:t>
            </a:r>
          </a:p>
          <a:p>
            <a:pPr>
              <a:spcAft>
                <a:spcPts val="700"/>
              </a:spcAft>
              <a:defRPr sz="1700">
                <a:solidFill>
                  <a:srgbClr val="142033"/>
                </a:solidFill>
                <a:latin typeface="Microsoft YaHei"/>
              </a:defRPr>
            </a:pPr>
            <a:r>
              <a:t>time-to-switch error</a:t>
            </a:r>
          </a:p>
          <a:p>
            <a:pPr>
              <a:spcAft>
                <a:spcPts val="700"/>
              </a:spcAft>
              <a:defRPr sz="1700">
                <a:solidFill>
                  <a:srgbClr val="142033"/>
                </a:solidFill>
                <a:latin typeface="Microsoft YaHei"/>
              </a:defRPr>
            </a:pPr>
            <a:r>
              <a:t>continuation probability calibration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989320"/>
            <a:ext cx="10972800" cy="502920"/>
          </a:xfrm>
          <a:prstGeom prst="roundRect">
            <a:avLst/>
          </a:prstGeom>
          <a:solidFill>
            <a:srgbClr val="FFE4E6"/>
          </a:solidFill>
          <a:ln w="1587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108192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E123C"/>
                </a:solidFill>
                <a:latin typeface="Microsoft YaHei"/>
              </a:rPr>
              <a:t>周三汇报结论：当前最合理的近期落地形式是 future patch label sequence，而不是枚举所有 transition class。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